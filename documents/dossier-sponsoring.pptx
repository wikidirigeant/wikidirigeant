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C85A2A"/>
          </a:solidFill>
          <a:ln w="12700">
            <a:solidFill>
              <a:srgbClr val="C85A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85A2A"/>
          </a:solidFill>
          <a:ln w="12700">
            <a:solidFill>
              <a:srgbClr val="C85A2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0" y="457200"/>
            <a:ext cx="3840480" cy="4206240"/>
          </a:xfrm>
          <a:prstGeom prst="rect">
            <a:avLst/>
          </a:prstGeom>
          <a:solidFill>
            <a:srgbClr val="0B1F3A">
              <a:alpha val="60000"/>
            </a:srgbClr>
          </a:solidFill>
          <a:ln w="12700">
            <a:solidFill>
              <a:srgbClr val="0B1F3A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394960" y="685800"/>
            <a:ext cx="3108960" cy="1371600"/>
          </a:xfrm>
          <a:prstGeom prst="rect">
            <a:avLst/>
          </a:prstGeom>
          <a:solidFill>
            <a:srgbClr val="1A2D4A"/>
          </a:solidFill>
          <a:ln w="19050">
            <a:solidFill>
              <a:srgbClr val="2A4A6E"/>
            </a:solidFill>
            <a:prstDash val="dash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394960" y="685800"/>
            <a:ext cx="3108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A6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LOGO DU CLUB ]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0058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85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CLUB DE TENNIS — AFFILIÉ FFT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141732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DOSSIER DE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548640" y="205740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C85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PARTENARIAT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548640" y="269748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&amp; SPONSORING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548640" y="34747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AB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Rejoignez-nous. Investissez dans le sport local.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977640"/>
            <a:ext cx="2011680" cy="347472"/>
          </a:xfrm>
          <a:prstGeom prst="rect">
            <a:avLst/>
          </a:prstGeom>
          <a:solidFill>
            <a:srgbClr val="C85A2A"/>
          </a:solidFill>
          <a:ln w="12700">
            <a:solidFill>
              <a:srgbClr val="C85A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97764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SAISON 2025 – 2026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C85A2A"/>
          </a:solidFill>
          <a:ln w="12700">
            <a:solidFill>
              <a:srgbClr val="C85A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4754880"/>
            <a:ext cx="850392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 du Club]  ·  [Adresse]  ·  [Email]  ·  [Site web]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85A2A"/>
          </a:solidFill>
          <a:ln w="12700">
            <a:solidFill>
              <a:srgbClr val="C85A2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457200"/>
            <a:ext cx="2560320" cy="1280160"/>
          </a:xfrm>
          <a:prstGeom prst="rect">
            <a:avLst/>
          </a:prstGeom>
          <a:solidFill>
            <a:srgbClr val="1A2D4A"/>
          </a:solidFill>
          <a:ln w="19050">
            <a:solidFill>
              <a:srgbClr val="C85A2A"/>
            </a:solidFill>
            <a:prstDash val="dash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457200"/>
            <a:ext cx="25603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C85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LOGO DU CLUB ]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0040" y="2011680"/>
            <a:ext cx="2560320" cy="594360"/>
          </a:xfrm>
          <a:prstGeom prst="rect">
            <a:avLst/>
          </a:prstGeom>
          <a:solidFill>
            <a:srgbClr val="1A2D4A"/>
          </a:solidFill>
          <a:ln w="12700">
            <a:solidFill>
              <a:srgbClr val="2A4A6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0040" y="20116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85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[XXX]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20040" y="228600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AAB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Adhérents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0040" y="2724912"/>
            <a:ext cx="2560320" cy="594360"/>
          </a:xfrm>
          <a:prstGeom prst="rect">
            <a:avLst/>
          </a:prstGeom>
          <a:solidFill>
            <a:srgbClr val="1A2D4A"/>
          </a:solidFill>
          <a:ln w="12700">
            <a:solidFill>
              <a:srgbClr val="2A4A6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0040" y="272491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85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[XX]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20040" y="299923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AAB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Courts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0040" y="3438144"/>
            <a:ext cx="2560320" cy="594360"/>
          </a:xfrm>
          <a:prstGeom prst="rect">
            <a:avLst/>
          </a:prstGeom>
          <a:solidFill>
            <a:srgbClr val="1A2D4A"/>
          </a:solidFill>
          <a:ln w="12700">
            <a:solidFill>
              <a:srgbClr val="2A4A6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20040" y="3438144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85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[XXXX]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20040" y="3712464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AAB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Année de création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20040" y="4151376"/>
            <a:ext cx="2560320" cy="594360"/>
          </a:xfrm>
          <a:prstGeom prst="rect">
            <a:avLst/>
          </a:prstGeom>
          <a:solidFill>
            <a:srgbClr val="1A2D4A"/>
          </a:solidFill>
          <a:ln w="12700">
            <a:solidFill>
              <a:srgbClr val="2A4A6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20040" y="4151376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85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[X]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20040" y="4425696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AAB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Disciplines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474720" y="32004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85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PRÉSENTATION DU CLUB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474720" y="658368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Notre club en quelques mots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3474720" y="1188720"/>
            <a:ext cx="5303520" cy="36576"/>
          </a:xfrm>
          <a:prstGeom prst="rect">
            <a:avLst/>
          </a:prstGeom>
          <a:solidFill>
            <a:srgbClr val="C85A2A"/>
          </a:solidFill>
          <a:ln w="12700">
            <a:solidFill>
              <a:srgbClr val="C85A2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74720" y="137160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Notre histoire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474720" y="1627632"/>
            <a:ext cx="228600" cy="27432"/>
          </a:xfrm>
          <a:prstGeom prst="rect">
            <a:avLst/>
          </a:prstGeom>
          <a:solidFill>
            <a:srgbClr val="C85A2A"/>
          </a:solidFill>
          <a:ln w="12700">
            <a:solidFill>
              <a:srgbClr val="C85A2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74720" y="1691640"/>
            <a:ext cx="5303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Fondé en [ANNÉE], le [NOM DU CLUB] est un club de tennis implanté à [VILLE]. Depuis plus de [X] ans, nous œuvrons au développement de la pratique sportive sur notre territoire.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0" y="246888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Notre projet sportif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474720" y="2724912"/>
            <a:ext cx="228600" cy="27432"/>
          </a:xfrm>
          <a:prstGeom prst="rect">
            <a:avLst/>
          </a:prstGeom>
          <a:solidFill>
            <a:srgbClr val="C85A2A"/>
          </a:solidFill>
          <a:ln w="12700">
            <a:solidFill>
              <a:srgbClr val="C85A2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74720" y="2788920"/>
            <a:ext cx="5303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Affilié à la Fédération Française de Tennis (FFT), notre club propose [DÉCRIRE L'OFFRE : école de tennis, compétitions interclubs, padel, cours adultes…]. Nous accueillons des joueurs de tous niveaux, de [AGE MINIMUM] ans à [AGE MAXIMUM] ans.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474720" y="356616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Notre ancrage local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474720" y="3822192"/>
            <a:ext cx="228600" cy="27432"/>
          </a:xfrm>
          <a:prstGeom prst="rect">
            <a:avLst/>
          </a:prstGeom>
          <a:solidFill>
            <a:srgbClr val="C85A2A"/>
          </a:solidFill>
          <a:ln w="12700">
            <a:solidFill>
              <a:srgbClr val="C85A2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74720" y="3886200"/>
            <a:ext cx="5303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Situé à [ADRESSE / QUARTIER], notre club dispose de [X] courts [EN DUR / EN TERRE BATTUE / COUVERTS]. Nous collaborons étroitement avec la mairie de [VILLE] et participons activement à la vie associative locale.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0040" y="4754880"/>
            <a:ext cx="850392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AB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Dossier de Partenariat &amp; Sponsoring  ·  [NOM DU CLUB]  ·  Saison 2025–2026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23444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234440"/>
            <a:ext cx="9144000" cy="54864"/>
          </a:xfrm>
          <a:prstGeom prst="rect">
            <a:avLst/>
          </a:prstGeom>
          <a:solidFill>
            <a:srgbClr val="C85A2A"/>
          </a:solidFill>
          <a:ln w="12700">
            <a:solidFill>
              <a:srgbClr val="C85A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97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85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 CHIFFRES CLÉS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4114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Une audience locale engagée, des retombées visibles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11480" y="1508760"/>
            <a:ext cx="2606040" cy="1417320"/>
          </a:xfrm>
          <a:prstGeom prst="rect">
            <a:avLst/>
          </a:prstGeom>
          <a:solidFill>
            <a:srgbClr val="F8F8F8"/>
          </a:solidFill>
          <a:ln w="12700">
            <a:solidFill>
              <a:srgbClr val="DDD8D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508760"/>
            <a:ext cx="91440" cy="1417320"/>
          </a:xfrm>
          <a:prstGeom prst="rect">
            <a:avLst/>
          </a:prstGeom>
          <a:solidFill>
            <a:srgbClr val="C85A2A"/>
          </a:solidFill>
          <a:ln w="12700">
            <a:solidFill>
              <a:srgbClr val="C85A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76072" y="164592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85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[XXX]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576072" y="219456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ADHÉRENTS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76072" y="246888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6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licenciés FFT actifs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246120" y="1508760"/>
            <a:ext cx="2606040" cy="1417320"/>
          </a:xfrm>
          <a:prstGeom prst="rect">
            <a:avLst/>
          </a:prstGeom>
          <a:solidFill>
            <a:srgbClr val="F8F8F8"/>
          </a:solidFill>
          <a:ln w="12700">
            <a:solidFill>
              <a:srgbClr val="DDD8D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46120" y="1508760"/>
            <a:ext cx="91440" cy="141732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10712" y="164592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[XX]%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3410712" y="219456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FAMILLES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410712" y="246888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6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parents &amp; enfants pratiquants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6080760" y="1508760"/>
            <a:ext cx="2606040" cy="1417320"/>
          </a:xfrm>
          <a:prstGeom prst="rect">
            <a:avLst/>
          </a:prstGeom>
          <a:solidFill>
            <a:srgbClr val="F8F8F8"/>
          </a:solidFill>
          <a:ln w="12700">
            <a:solidFill>
              <a:srgbClr val="DDD8D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80760" y="1508760"/>
            <a:ext cx="91440" cy="1417320"/>
          </a:xfrm>
          <a:prstGeom prst="rect">
            <a:avLst/>
          </a:prstGeom>
          <a:solidFill>
            <a:srgbClr val="1A6640"/>
          </a:solidFill>
          <a:ln w="12700">
            <a:solidFill>
              <a:srgbClr val="1A664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45352" y="164592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66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[X]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6245352" y="219456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DISCIPLINES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245352" y="246888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6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Tennis · Padel · Pickleball · Beach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11480" y="3154680"/>
            <a:ext cx="2606040" cy="1417320"/>
          </a:xfrm>
          <a:prstGeom prst="rect">
            <a:avLst/>
          </a:prstGeom>
          <a:solidFill>
            <a:srgbClr val="F8F8F8"/>
          </a:solidFill>
          <a:ln w="12700">
            <a:solidFill>
              <a:srgbClr val="DDD8D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11480" y="3154680"/>
            <a:ext cx="91440" cy="1417320"/>
          </a:xfrm>
          <a:prstGeom prst="rect">
            <a:avLst/>
          </a:prstGeom>
          <a:solidFill>
            <a:srgbClr val="C85A2A"/>
          </a:solidFill>
          <a:ln w="12700">
            <a:solidFill>
              <a:srgbClr val="C85A2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76072" y="329184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85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[X]K</a:t>
            </a:r>
            <a:endParaRPr lang="en-US" sz="3600" dirty="0"/>
          </a:p>
        </p:txBody>
      </p:sp>
      <p:sp>
        <p:nvSpPr>
          <p:cNvPr id="24" name="Text 22"/>
          <p:cNvSpPr/>
          <p:nvPr/>
        </p:nvSpPr>
        <p:spPr>
          <a:xfrm>
            <a:off x="576072" y="384048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VUES / MOIS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76072" y="411480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6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 nos réseaux sociaux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246120" y="3154680"/>
            <a:ext cx="2606040" cy="1417320"/>
          </a:xfrm>
          <a:prstGeom prst="rect">
            <a:avLst/>
          </a:prstGeom>
          <a:solidFill>
            <a:srgbClr val="F8F8F8"/>
          </a:solidFill>
          <a:ln w="12700">
            <a:solidFill>
              <a:srgbClr val="DDD8D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246120" y="3154680"/>
            <a:ext cx="91440" cy="141732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10712" y="329184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[XXX]</a:t>
            </a:r>
            <a:endParaRPr lang="en-US" sz="3600" dirty="0"/>
          </a:p>
        </p:txBody>
      </p:sp>
      <p:sp>
        <p:nvSpPr>
          <p:cNvPr id="29" name="Text 27"/>
          <p:cNvSpPr/>
          <p:nvPr/>
        </p:nvSpPr>
        <p:spPr>
          <a:xfrm>
            <a:off x="3410712" y="384048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INSCRITS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410712" y="411480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6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la newsletter du club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6080760" y="3154680"/>
            <a:ext cx="2606040" cy="1417320"/>
          </a:xfrm>
          <a:prstGeom prst="rect">
            <a:avLst/>
          </a:prstGeom>
          <a:solidFill>
            <a:srgbClr val="F8F8F8"/>
          </a:solidFill>
          <a:ln w="12700">
            <a:solidFill>
              <a:srgbClr val="DDD8D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080760" y="3154680"/>
            <a:ext cx="91440" cy="1417320"/>
          </a:xfrm>
          <a:prstGeom prst="rect">
            <a:avLst/>
          </a:prstGeom>
          <a:solidFill>
            <a:srgbClr val="1A6640"/>
          </a:solidFill>
          <a:ln w="12700">
            <a:solidFill>
              <a:srgbClr val="1A664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45352" y="329184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66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[X]</a:t>
            </a:r>
            <a:endParaRPr lang="en-US" sz="3600" dirty="0"/>
          </a:p>
        </p:txBody>
      </p:sp>
      <p:sp>
        <p:nvSpPr>
          <p:cNvPr id="34" name="Text 32"/>
          <p:cNvSpPr/>
          <p:nvPr/>
        </p:nvSpPr>
        <p:spPr>
          <a:xfrm>
            <a:off x="6245352" y="384048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ÉVÉNEMENTS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245352" y="411480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6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 saison (tournois, fêtes…)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0040" y="4754880"/>
            <a:ext cx="850392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AB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Dossier de Partenariat &amp; Sponsoring  ·  [NOM DU CLUB]  ·  Saison 2025–2026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234440"/>
          </a:xfrm>
          <a:prstGeom prst="rect">
            <a:avLst/>
          </a:prstGeom>
          <a:solidFill>
            <a:srgbClr val="C85A2A"/>
          </a:solidFill>
          <a:ln w="12700">
            <a:solidFill>
              <a:srgbClr val="C85A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097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NOUS REJOINDRE ?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4114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 bénéfices concrets pour votre entreprise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11480" y="1417320"/>
            <a:ext cx="39319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8D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417320"/>
            <a:ext cx="3931920" cy="7315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76072" y="1581912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👥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97280" y="1581912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Visibilité locale ciblée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76072" y="201168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Votre marque vue par [XXX]+ adhérents actifs, leurs familles et leurs réseaux — une audience locale qualifiée, dans un cadre positif et fédérateur.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663440" y="1417320"/>
            <a:ext cx="39319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8D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1417320"/>
            <a:ext cx="3931920" cy="73152"/>
          </a:xfrm>
          <a:prstGeom prst="rect">
            <a:avLst/>
          </a:prstGeom>
          <a:solidFill>
            <a:srgbClr val="1A6640"/>
          </a:solidFill>
          <a:ln w="12700">
            <a:solidFill>
              <a:srgbClr val="1A664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28032" y="1581912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🤝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349240" y="1581912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&amp; valeurs partagées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28032" y="201168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tennis véhicule des valeurs universelles : dépassement de soi, fair-play, santé. Associer votre marque à notre club renforce votre ancrage territorial et votre image responsable.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11480" y="3017520"/>
            <a:ext cx="39319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8D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11480" y="3017520"/>
            <a:ext cx="3931920" cy="73152"/>
          </a:xfrm>
          <a:prstGeom prst="rect">
            <a:avLst/>
          </a:prstGeom>
          <a:solidFill>
            <a:srgbClr val="C85A2A"/>
          </a:solidFill>
          <a:ln w="12700">
            <a:solidFill>
              <a:srgbClr val="C85A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76072" y="3182112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📱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097280" y="3182112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Présence numérique active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76072" y="361188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 canaux digitaux (site Ten'Up, réseaux sociaux, newsletter) atteignent une audience croissante. Votre logo et vos messages touchent votre cible tout au long de la saison.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663440" y="3017520"/>
            <a:ext cx="39319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8D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63440" y="3017520"/>
            <a:ext cx="3931920" cy="7315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28032" y="3182112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🎾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5349240" y="3182112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Expériences exclusives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828032" y="361188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Accès à des créneaux de courts, invitations aux tournois et soirées du club : le sponsoring est aussi une opportunité de team building pour vos équipes et clients.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4754880"/>
            <a:ext cx="850392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AB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Dossier de Partenariat &amp; Sponsoring  ·  [NOM DU CLUB]  ·  Saison 2025–2026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6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C85A2A"/>
          </a:solidFill>
          <a:ln w="12700">
            <a:solidFill>
              <a:srgbClr val="C85A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9144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85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 OFFRES DE PARTENARIAT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347472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Trois niveaux d'engagement, une visibilité sur mesure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65760" y="1078992"/>
            <a:ext cx="2606040" cy="3611880"/>
          </a:xfrm>
          <a:prstGeom prst="rect">
            <a:avLst/>
          </a:prstGeom>
          <a:solidFill>
            <a:srgbClr val="2A1A10"/>
          </a:solidFill>
          <a:ln w="12700">
            <a:solidFill>
              <a:srgbClr val="8B451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078992"/>
            <a:ext cx="2606040" cy="694944"/>
          </a:xfrm>
          <a:prstGeom prst="rect">
            <a:avLst/>
          </a:prstGeom>
          <a:solidFill>
            <a:srgbClr val="7B4010"/>
          </a:solidFill>
          <a:ln w="12700">
            <a:solidFill>
              <a:srgbClr val="7B401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078992"/>
            <a:ext cx="2606040" cy="64008"/>
          </a:xfrm>
          <a:prstGeom prst="rect">
            <a:avLst/>
          </a:prstGeom>
          <a:solidFill>
            <a:srgbClr val="8B4513"/>
          </a:solidFill>
          <a:ln w="12700">
            <a:solidFill>
              <a:srgbClr val="8B451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097280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200" kern="0" dirty="0">
                <a:solidFill>
                  <a:srgbClr val="8B45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BRONZE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02920" y="1426464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Partenaire Soutien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365760" y="1773936"/>
            <a:ext cx="2606040" cy="420624"/>
          </a:xfrm>
          <a:prstGeom prst="rect">
            <a:avLst/>
          </a:prstGeom>
          <a:solidFill>
            <a:srgbClr val="8B4513"/>
          </a:solidFill>
          <a:ln w="12700">
            <a:solidFill>
              <a:srgbClr val="8B451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1773936"/>
            <a:ext cx="2423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600 € / an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502920" y="2340864"/>
            <a:ext cx="109728" cy="109728"/>
          </a:xfrm>
          <a:prstGeom prst="rect">
            <a:avLst/>
          </a:prstGeom>
          <a:solidFill>
            <a:srgbClr val="8B4513"/>
          </a:solidFill>
          <a:ln w="12700">
            <a:solidFill>
              <a:srgbClr val="8B451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2267712"/>
            <a:ext cx="2130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D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 affichages intérieurs</a:t>
            </a:r>
            <a:endParaRPr lang="en-US" sz="780" dirty="0"/>
          </a:p>
        </p:txBody>
      </p:sp>
      <p:sp>
        <p:nvSpPr>
          <p:cNvPr id="15" name="Shape 13"/>
          <p:cNvSpPr/>
          <p:nvPr/>
        </p:nvSpPr>
        <p:spPr>
          <a:xfrm>
            <a:off x="502920" y="2642616"/>
            <a:ext cx="109728" cy="109728"/>
          </a:xfrm>
          <a:prstGeom prst="rect">
            <a:avLst/>
          </a:prstGeom>
          <a:solidFill>
            <a:srgbClr val="8B4513"/>
          </a:solidFill>
          <a:ln w="12700">
            <a:solidFill>
              <a:srgbClr val="8B451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2569464"/>
            <a:ext cx="2130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D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 sur le site Ten'Up</a:t>
            </a:r>
            <a:endParaRPr lang="en-US" sz="780" dirty="0"/>
          </a:p>
        </p:txBody>
      </p:sp>
      <p:sp>
        <p:nvSpPr>
          <p:cNvPr id="17" name="Shape 15"/>
          <p:cNvSpPr/>
          <p:nvPr/>
        </p:nvSpPr>
        <p:spPr>
          <a:xfrm>
            <a:off x="502920" y="2944368"/>
            <a:ext cx="109728" cy="109728"/>
          </a:xfrm>
          <a:prstGeom prst="rect">
            <a:avLst/>
          </a:prstGeom>
          <a:solidFill>
            <a:srgbClr val="8B4513"/>
          </a:solidFill>
          <a:ln w="12700">
            <a:solidFill>
              <a:srgbClr val="8B451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2871216"/>
            <a:ext cx="2130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D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Mention newsletter saisonnière</a:t>
            </a:r>
            <a:endParaRPr lang="en-US" sz="780" dirty="0"/>
          </a:p>
        </p:txBody>
      </p:sp>
      <p:sp>
        <p:nvSpPr>
          <p:cNvPr id="19" name="Shape 17"/>
          <p:cNvSpPr/>
          <p:nvPr/>
        </p:nvSpPr>
        <p:spPr>
          <a:xfrm>
            <a:off x="502920" y="3246120"/>
            <a:ext cx="109728" cy="109728"/>
          </a:xfrm>
          <a:prstGeom prst="rect">
            <a:avLst/>
          </a:prstGeom>
          <a:solidFill>
            <a:srgbClr val="8B4513"/>
          </a:solidFill>
          <a:ln w="12700">
            <a:solidFill>
              <a:srgbClr val="8B451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3172968"/>
            <a:ext cx="2130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D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invitation aux événements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502920" y="3547872"/>
            <a:ext cx="109728" cy="109728"/>
          </a:xfrm>
          <a:prstGeom prst="rect">
            <a:avLst/>
          </a:prstGeom>
          <a:solidFill>
            <a:srgbClr val="8B4513"/>
          </a:solidFill>
          <a:ln w="12700">
            <a:solidFill>
              <a:srgbClr val="8B451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" y="3474720"/>
            <a:ext cx="2130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D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réseaux sociaux</a:t>
            </a:r>
            <a:endParaRPr lang="en-US" sz="780" dirty="0"/>
          </a:p>
        </p:txBody>
      </p:sp>
      <p:sp>
        <p:nvSpPr>
          <p:cNvPr id="23" name="Shape 21"/>
          <p:cNvSpPr/>
          <p:nvPr/>
        </p:nvSpPr>
        <p:spPr>
          <a:xfrm>
            <a:off x="3200400" y="1078992"/>
            <a:ext cx="2606040" cy="3611880"/>
          </a:xfrm>
          <a:prstGeom prst="rect">
            <a:avLst/>
          </a:prstGeom>
          <a:solidFill>
            <a:srgbClr val="1E1E1E"/>
          </a:solidFill>
          <a:ln w="12700">
            <a:solidFill>
              <a:srgbClr val="70707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00400" y="1078992"/>
            <a:ext cx="2606040" cy="694944"/>
          </a:xfrm>
          <a:prstGeom prst="rect">
            <a:avLst/>
          </a:prstGeom>
          <a:solidFill>
            <a:srgbClr val="505050"/>
          </a:solidFill>
          <a:ln w="12700">
            <a:solidFill>
              <a:srgbClr val="50505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00400" y="1078992"/>
            <a:ext cx="2606040" cy="64008"/>
          </a:xfrm>
          <a:prstGeom prst="rect">
            <a:avLst/>
          </a:prstGeom>
          <a:solidFill>
            <a:srgbClr val="707070"/>
          </a:solidFill>
          <a:ln w="12700">
            <a:solidFill>
              <a:srgbClr val="70707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37560" y="1097280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200" kern="0" dirty="0">
                <a:solidFill>
                  <a:srgbClr val="D8D8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ARGENT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3337560" y="1426464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Partenaire Associé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3200400" y="1773936"/>
            <a:ext cx="2606040" cy="420624"/>
          </a:xfrm>
          <a:prstGeom prst="rect">
            <a:avLst/>
          </a:prstGeom>
          <a:solidFill>
            <a:srgbClr val="707070"/>
          </a:solidFill>
          <a:ln w="12700">
            <a:solidFill>
              <a:srgbClr val="70707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91840" y="1773936"/>
            <a:ext cx="2423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1 500 € / an</a:t>
            </a:r>
            <a:endParaRPr lang="en-US" sz="1700" dirty="0"/>
          </a:p>
        </p:txBody>
      </p:sp>
      <p:sp>
        <p:nvSpPr>
          <p:cNvPr id="30" name="Shape 28"/>
          <p:cNvSpPr/>
          <p:nvPr/>
        </p:nvSpPr>
        <p:spPr>
          <a:xfrm>
            <a:off x="3337560" y="2340864"/>
            <a:ext cx="109728" cy="109728"/>
          </a:xfrm>
          <a:prstGeom prst="rect">
            <a:avLst/>
          </a:prstGeom>
          <a:solidFill>
            <a:srgbClr val="707070"/>
          </a:solidFill>
          <a:ln w="12700">
            <a:solidFill>
              <a:srgbClr val="70707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520440" y="2267712"/>
            <a:ext cx="2130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D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 bâches et affichages</a:t>
            </a:r>
            <a:endParaRPr lang="en-US" sz="780" dirty="0"/>
          </a:p>
        </p:txBody>
      </p:sp>
      <p:sp>
        <p:nvSpPr>
          <p:cNvPr id="32" name="Shape 30"/>
          <p:cNvSpPr/>
          <p:nvPr/>
        </p:nvSpPr>
        <p:spPr>
          <a:xfrm>
            <a:off x="3337560" y="2642616"/>
            <a:ext cx="109728" cy="109728"/>
          </a:xfrm>
          <a:prstGeom prst="rect">
            <a:avLst/>
          </a:prstGeom>
          <a:solidFill>
            <a:srgbClr val="707070"/>
          </a:solidFill>
          <a:ln w="12700">
            <a:solidFill>
              <a:srgbClr val="70707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520440" y="2569464"/>
            <a:ext cx="2130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D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 2e position site + réseaux</a:t>
            </a:r>
            <a:endParaRPr lang="en-US" sz="780" dirty="0"/>
          </a:p>
        </p:txBody>
      </p:sp>
      <p:sp>
        <p:nvSpPr>
          <p:cNvPr id="34" name="Shape 32"/>
          <p:cNvSpPr/>
          <p:nvPr/>
        </p:nvSpPr>
        <p:spPr>
          <a:xfrm>
            <a:off x="3337560" y="2944368"/>
            <a:ext cx="109728" cy="109728"/>
          </a:xfrm>
          <a:prstGeom prst="rect">
            <a:avLst/>
          </a:prstGeom>
          <a:solidFill>
            <a:srgbClr val="707070"/>
          </a:solidFill>
          <a:ln w="12700">
            <a:solidFill>
              <a:srgbClr val="70707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520440" y="2871216"/>
            <a:ext cx="2130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D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publications dédiées / saison</a:t>
            </a:r>
            <a:endParaRPr lang="en-US" sz="780" dirty="0"/>
          </a:p>
        </p:txBody>
      </p:sp>
      <p:sp>
        <p:nvSpPr>
          <p:cNvPr id="36" name="Shape 34"/>
          <p:cNvSpPr/>
          <p:nvPr/>
        </p:nvSpPr>
        <p:spPr>
          <a:xfrm>
            <a:off x="3337560" y="3246120"/>
            <a:ext cx="109728" cy="109728"/>
          </a:xfrm>
          <a:prstGeom prst="rect">
            <a:avLst/>
          </a:prstGeom>
          <a:solidFill>
            <a:srgbClr val="707070"/>
          </a:solidFill>
          <a:ln w="12700">
            <a:solidFill>
              <a:srgbClr val="70707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520440" y="3172968"/>
            <a:ext cx="2130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D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invitations événements</a:t>
            </a:r>
            <a:endParaRPr lang="en-US" sz="780" dirty="0"/>
          </a:p>
        </p:txBody>
      </p:sp>
      <p:sp>
        <p:nvSpPr>
          <p:cNvPr id="38" name="Shape 36"/>
          <p:cNvSpPr/>
          <p:nvPr/>
        </p:nvSpPr>
        <p:spPr>
          <a:xfrm>
            <a:off x="3337560" y="3547872"/>
            <a:ext cx="109728" cy="109728"/>
          </a:xfrm>
          <a:prstGeom prst="rect">
            <a:avLst/>
          </a:prstGeom>
          <a:solidFill>
            <a:srgbClr val="707070"/>
          </a:solidFill>
          <a:ln w="12700">
            <a:solidFill>
              <a:srgbClr val="70707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520440" y="3474720"/>
            <a:ext cx="2130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D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créneau court / semaine</a:t>
            </a:r>
            <a:endParaRPr lang="en-US" sz="780" dirty="0"/>
          </a:p>
        </p:txBody>
      </p:sp>
      <p:sp>
        <p:nvSpPr>
          <p:cNvPr id="40" name="Shape 38"/>
          <p:cNvSpPr/>
          <p:nvPr/>
        </p:nvSpPr>
        <p:spPr>
          <a:xfrm>
            <a:off x="3337560" y="3849624"/>
            <a:ext cx="109728" cy="109728"/>
          </a:xfrm>
          <a:prstGeom prst="rect">
            <a:avLst/>
          </a:prstGeom>
          <a:solidFill>
            <a:srgbClr val="707070"/>
          </a:solidFill>
          <a:ln w="12700">
            <a:solidFill>
              <a:srgbClr val="70707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520440" y="3776472"/>
            <a:ext cx="2130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D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Mention cérémonie remise de prix</a:t>
            </a:r>
            <a:endParaRPr lang="en-US" sz="780" dirty="0"/>
          </a:p>
        </p:txBody>
      </p:sp>
      <p:sp>
        <p:nvSpPr>
          <p:cNvPr id="42" name="Shape 40"/>
          <p:cNvSpPr/>
          <p:nvPr/>
        </p:nvSpPr>
        <p:spPr>
          <a:xfrm>
            <a:off x="6035040" y="1078992"/>
            <a:ext cx="2606040" cy="3611880"/>
          </a:xfrm>
          <a:prstGeom prst="rect">
            <a:avLst/>
          </a:prstGeom>
          <a:solidFill>
            <a:srgbClr val="241800"/>
          </a:solidFill>
          <a:ln w="25400">
            <a:solidFill>
              <a:srgbClr val="B8860B"/>
            </a:solidFill>
            <a:prstDash val="solid"/>
          </a:ln>
          <a:effectLst>
            <a:outerShdw sx="100000" sy="100000" kx="0" ky="0" algn="bl" rotWithShape="0" blurRad="177800" dist="63500" dir="8100000">
              <a:srgbClr val="000000">
                <a:alpha val="18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6035040" y="1078992"/>
            <a:ext cx="2606040" cy="694944"/>
          </a:xfrm>
          <a:prstGeom prst="rect">
            <a:avLst/>
          </a:prstGeom>
          <a:solidFill>
            <a:srgbClr val="7A5800"/>
          </a:solidFill>
          <a:ln w="12700">
            <a:solidFill>
              <a:srgbClr val="7A580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035040" y="1078992"/>
            <a:ext cx="2606040" cy="64008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172200" y="1097280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200" kern="0" dirty="0">
                <a:solidFill>
                  <a:srgbClr val="B886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</a:t>
            </a:r>
            <a:endParaRPr lang="en-US" sz="2000" dirty="0"/>
          </a:p>
        </p:txBody>
      </p:sp>
      <p:sp>
        <p:nvSpPr>
          <p:cNvPr id="46" name="Text 44"/>
          <p:cNvSpPr/>
          <p:nvPr/>
        </p:nvSpPr>
        <p:spPr>
          <a:xfrm>
            <a:off x="6172200" y="1426464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Partenaire Principal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6035040" y="1773936"/>
            <a:ext cx="2606040" cy="420624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126480" y="1773936"/>
            <a:ext cx="2423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3 000 € / an</a:t>
            </a:r>
            <a:endParaRPr lang="en-US" sz="1700" dirty="0"/>
          </a:p>
        </p:txBody>
      </p:sp>
      <p:sp>
        <p:nvSpPr>
          <p:cNvPr id="49" name="Shape 47"/>
          <p:cNvSpPr/>
          <p:nvPr/>
        </p:nvSpPr>
        <p:spPr>
          <a:xfrm>
            <a:off x="6172200" y="2340864"/>
            <a:ext cx="109728" cy="109728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355080" y="2267712"/>
            <a:ext cx="2130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D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 grand format équipements</a:t>
            </a:r>
            <a:endParaRPr lang="en-US" sz="780" dirty="0"/>
          </a:p>
        </p:txBody>
      </p:sp>
      <p:sp>
        <p:nvSpPr>
          <p:cNvPr id="51" name="Shape 49"/>
          <p:cNvSpPr/>
          <p:nvPr/>
        </p:nvSpPr>
        <p:spPr>
          <a:xfrm>
            <a:off x="6172200" y="2642616"/>
            <a:ext cx="109728" cy="109728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355080" y="2569464"/>
            <a:ext cx="2130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D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 1ère position tous supports</a:t>
            </a:r>
            <a:endParaRPr lang="en-US" sz="780" dirty="0"/>
          </a:p>
        </p:txBody>
      </p:sp>
      <p:sp>
        <p:nvSpPr>
          <p:cNvPr id="53" name="Shape 51"/>
          <p:cNvSpPr/>
          <p:nvPr/>
        </p:nvSpPr>
        <p:spPr>
          <a:xfrm>
            <a:off x="6172200" y="2944368"/>
            <a:ext cx="109728" cy="109728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355080" y="2871216"/>
            <a:ext cx="2130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D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"Partenaire Principal" toutes comms</a:t>
            </a:r>
            <a:endParaRPr lang="en-US" sz="780" dirty="0"/>
          </a:p>
        </p:txBody>
      </p:sp>
      <p:sp>
        <p:nvSpPr>
          <p:cNvPr id="55" name="Shape 53"/>
          <p:cNvSpPr/>
          <p:nvPr/>
        </p:nvSpPr>
        <p:spPr>
          <a:xfrm>
            <a:off x="6172200" y="3246120"/>
            <a:ext cx="109728" cy="109728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355080" y="3172968"/>
            <a:ext cx="2130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D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Newsletter : bandeau dédié (400+)</a:t>
            </a:r>
            <a:endParaRPr lang="en-US" sz="780" dirty="0"/>
          </a:p>
        </p:txBody>
      </p:sp>
      <p:sp>
        <p:nvSpPr>
          <p:cNvPr id="57" name="Shape 55"/>
          <p:cNvSpPr/>
          <p:nvPr/>
        </p:nvSpPr>
        <p:spPr>
          <a:xfrm>
            <a:off x="6172200" y="3547872"/>
            <a:ext cx="109728" cy="109728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355080" y="3474720"/>
            <a:ext cx="2130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D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invitations VIP</a:t>
            </a:r>
            <a:endParaRPr lang="en-US" sz="780" dirty="0"/>
          </a:p>
        </p:txBody>
      </p:sp>
      <p:sp>
        <p:nvSpPr>
          <p:cNvPr id="59" name="Shape 57"/>
          <p:cNvSpPr/>
          <p:nvPr/>
        </p:nvSpPr>
        <p:spPr>
          <a:xfrm>
            <a:off x="6172200" y="3849624"/>
            <a:ext cx="109728" cy="109728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355080" y="3776472"/>
            <a:ext cx="2130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D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créneaux courts / semaine</a:t>
            </a:r>
            <a:endParaRPr lang="en-US" sz="780" dirty="0"/>
          </a:p>
        </p:txBody>
      </p:sp>
      <p:sp>
        <p:nvSpPr>
          <p:cNvPr id="61" name="Shape 59"/>
          <p:cNvSpPr/>
          <p:nvPr/>
        </p:nvSpPr>
        <p:spPr>
          <a:xfrm>
            <a:off x="6172200" y="4151376"/>
            <a:ext cx="109728" cy="109728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355080" y="4078224"/>
            <a:ext cx="2130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D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Discours en AG</a:t>
            </a:r>
            <a:endParaRPr lang="en-US" sz="780" dirty="0"/>
          </a:p>
        </p:txBody>
      </p:sp>
      <p:sp>
        <p:nvSpPr>
          <p:cNvPr id="63" name="Shape 61"/>
          <p:cNvSpPr/>
          <p:nvPr/>
        </p:nvSpPr>
        <p:spPr>
          <a:xfrm>
            <a:off x="6172200" y="4453128"/>
            <a:ext cx="109728" cy="109728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355080" y="4379976"/>
            <a:ext cx="2130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D8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Vidéo de présentation réseaux</a:t>
            </a:r>
            <a:endParaRPr lang="en-US" sz="780" dirty="0"/>
          </a:p>
        </p:txBody>
      </p:sp>
      <p:sp>
        <p:nvSpPr>
          <p:cNvPr id="65" name="Shape 63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320040" y="4754880"/>
            <a:ext cx="850392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AB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Dossier de Partenariat &amp; Sponsoring  ·  [NOM DU CLUB]  ·  Saison 2025–2026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74720" y="0"/>
            <a:ext cx="566928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27432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400" kern="0" dirty="0">
                <a:solidFill>
                  <a:srgbClr val="AAB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OFFRE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28016" y="54864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B886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228600" y="12801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AAB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Partenaire Principal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74320" y="1691640"/>
            <a:ext cx="2926080" cy="685800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74320" y="169164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3 000 €  / an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228600" y="242316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AAB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Tarif annuel HT · Renouvellement en août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20040" y="2743200"/>
            <a:ext cx="2788920" cy="1371600"/>
          </a:xfrm>
          <a:prstGeom prst="rect">
            <a:avLst/>
          </a:prstGeom>
          <a:solidFill>
            <a:srgbClr val="1A2D4A"/>
          </a:solidFill>
          <a:ln w="19050">
            <a:solidFill>
              <a:srgbClr val="B8860B"/>
            </a:solidFill>
            <a:prstDash val="dash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20040" y="2743200"/>
            <a:ext cx="2788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LOGO DU CLUB ]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794760" y="20116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OR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794760" y="475488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 que nous vous offrons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3794760" y="950976"/>
            <a:ext cx="5029200" cy="3657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794760" y="1161288"/>
            <a:ext cx="164592" cy="164592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794760" y="1143000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4041648" y="1097280"/>
            <a:ext cx="4773168" cy="354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 grand format sur tous les équipements du club (filets, bâches, bancs)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794760" y="1552448"/>
            <a:ext cx="164592" cy="164592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794760" y="1534160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4041648" y="1488440"/>
            <a:ext cx="4773168" cy="354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 en 1ère position sur le site Ten'Up et les réseaux sociaux officiels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794760" y="1943608"/>
            <a:ext cx="164592" cy="164592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794760" y="1925320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4041648" y="1879600"/>
            <a:ext cx="4773168" cy="354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Mention "Partenaire Principal" dans toutes les communications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794760" y="2334768"/>
            <a:ext cx="164592" cy="164592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794760" y="2316480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4041648" y="2270760"/>
            <a:ext cx="4773168" cy="354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Bandeau publicitaire sur les newsletters mensuelles (+ 400 contacts)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794760" y="2725928"/>
            <a:ext cx="164592" cy="164592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794760" y="2707640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4041648" y="2661920"/>
            <a:ext cx="4773168" cy="354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invitations VIP aux événements et tournois du club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794760" y="3117088"/>
            <a:ext cx="164592" cy="164592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794760" y="3098800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4041648" y="3053080"/>
            <a:ext cx="4773168" cy="354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Accès exclusif à 2 créneaux courts / semaine (valeur 1 200 €)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794760" y="3508248"/>
            <a:ext cx="164592" cy="164592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794760" y="3489960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4041648" y="3444240"/>
            <a:ext cx="4773168" cy="354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Discours et remise de prix lors de l'assemblée générale annuelle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3794760" y="3899408"/>
            <a:ext cx="164592" cy="164592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794760" y="3881120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4041648" y="3835400"/>
            <a:ext cx="4773168" cy="354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Entretien annuel avec le bureau du club pour bilan et renouvellement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3794760" y="4290568"/>
            <a:ext cx="164592" cy="164592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794760" y="4272280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4041648" y="4226560"/>
            <a:ext cx="4773168" cy="354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Vidéo de présentation partenaire publiée sur les réseaux sociaux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20040" y="4754880"/>
            <a:ext cx="850392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AB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Dossier de Partenariat &amp; Sponsoring  ·  [NOM DU CLUB]  ·  Saison 2025–2026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74720" y="0"/>
            <a:ext cx="566928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707070"/>
          </a:solidFill>
          <a:ln w="12700">
            <a:solidFill>
              <a:srgbClr val="70707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27432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400" kern="0" dirty="0">
                <a:solidFill>
                  <a:srgbClr val="AAB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OFFRE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28016" y="54864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7070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ARGENT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228600" y="12801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AAB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Partenaire Associé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74320" y="1691640"/>
            <a:ext cx="2926080" cy="685800"/>
          </a:xfrm>
          <a:prstGeom prst="rect">
            <a:avLst/>
          </a:prstGeom>
          <a:solidFill>
            <a:srgbClr val="707070"/>
          </a:solidFill>
          <a:ln w="12700">
            <a:solidFill>
              <a:srgbClr val="70707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74320" y="169164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1 500 €  / an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228600" y="242316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AAB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Tarif annuel HT · Renouvellement en août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20040" y="2743200"/>
            <a:ext cx="2788920" cy="1371600"/>
          </a:xfrm>
          <a:prstGeom prst="rect">
            <a:avLst/>
          </a:prstGeom>
          <a:solidFill>
            <a:srgbClr val="1A2D4A"/>
          </a:solidFill>
          <a:ln w="19050">
            <a:solidFill>
              <a:srgbClr val="707070"/>
            </a:solidFill>
            <a:prstDash val="dash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20040" y="2743200"/>
            <a:ext cx="2788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70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LOGO DU CLUB ]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794760" y="20116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707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ARGENT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794760" y="475488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 que nous vous offrons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3794760" y="950976"/>
            <a:ext cx="5029200" cy="36576"/>
          </a:xfrm>
          <a:prstGeom prst="rect">
            <a:avLst/>
          </a:prstGeom>
          <a:solidFill>
            <a:srgbClr val="707070"/>
          </a:solidFill>
          <a:ln w="12700">
            <a:solidFill>
              <a:srgbClr val="70707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794760" y="1161288"/>
            <a:ext cx="164592" cy="164592"/>
          </a:xfrm>
          <a:prstGeom prst="rect">
            <a:avLst/>
          </a:prstGeom>
          <a:solidFill>
            <a:srgbClr val="707070"/>
          </a:solidFill>
          <a:ln w="12700">
            <a:solidFill>
              <a:srgbClr val="70707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794760" y="1143000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4041648" y="1097280"/>
            <a:ext cx="4773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 sur les bâches et affichages principaux du club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794760" y="1581912"/>
            <a:ext cx="164592" cy="164592"/>
          </a:xfrm>
          <a:prstGeom prst="rect">
            <a:avLst/>
          </a:prstGeom>
          <a:solidFill>
            <a:srgbClr val="707070"/>
          </a:solidFill>
          <a:ln w="12700">
            <a:solidFill>
              <a:srgbClr val="70707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794760" y="1563624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4041648" y="1517904"/>
            <a:ext cx="4773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 en 2ème position sur le site Ten'Up et les réseaux sociaux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794760" y="2002536"/>
            <a:ext cx="164592" cy="164592"/>
          </a:xfrm>
          <a:prstGeom prst="rect">
            <a:avLst/>
          </a:prstGeom>
          <a:solidFill>
            <a:srgbClr val="707070"/>
          </a:solidFill>
          <a:ln w="12700">
            <a:solidFill>
              <a:srgbClr val="70707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794760" y="1984248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4041648" y="1938528"/>
            <a:ext cx="4773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Mention "Partenaire Associé" dans les communications officielles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794760" y="2423160"/>
            <a:ext cx="164592" cy="164592"/>
          </a:xfrm>
          <a:prstGeom prst="rect">
            <a:avLst/>
          </a:prstGeom>
          <a:solidFill>
            <a:srgbClr val="707070"/>
          </a:solidFill>
          <a:ln w="12700">
            <a:solidFill>
              <a:srgbClr val="70707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794760" y="2404872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4041648" y="2359152"/>
            <a:ext cx="4773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publications dédiées par saison sur les réseaux sociaux du club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794760" y="2843784"/>
            <a:ext cx="164592" cy="164592"/>
          </a:xfrm>
          <a:prstGeom prst="rect">
            <a:avLst/>
          </a:prstGeom>
          <a:solidFill>
            <a:srgbClr val="707070"/>
          </a:solidFill>
          <a:ln w="12700">
            <a:solidFill>
              <a:srgbClr val="70707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794760" y="2825496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4041648" y="2779776"/>
            <a:ext cx="4773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invitations aux événements et tournois du club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794760" y="3264408"/>
            <a:ext cx="164592" cy="164592"/>
          </a:xfrm>
          <a:prstGeom prst="rect">
            <a:avLst/>
          </a:prstGeom>
          <a:solidFill>
            <a:srgbClr val="707070"/>
          </a:solidFill>
          <a:ln w="12700">
            <a:solidFill>
              <a:srgbClr val="70707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794760" y="3246120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4041648" y="3200400"/>
            <a:ext cx="4773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Accès à 1 créneau court / semaine (valeur 600 €)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794760" y="3685032"/>
            <a:ext cx="164592" cy="164592"/>
          </a:xfrm>
          <a:prstGeom prst="rect">
            <a:avLst/>
          </a:prstGeom>
          <a:solidFill>
            <a:srgbClr val="707070"/>
          </a:solidFill>
          <a:ln w="12700">
            <a:solidFill>
              <a:srgbClr val="70707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794760" y="3666744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4041648" y="3621024"/>
            <a:ext cx="4773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Mention lors de la cérémonie de remise des prix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20040" y="4754880"/>
            <a:ext cx="850392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AB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Dossier de Partenariat &amp; Sponsoring  ·  [NOM DU CLUB]  ·  Saison 2025–2026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74720" y="0"/>
            <a:ext cx="566928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8B4513"/>
          </a:solidFill>
          <a:ln w="12700">
            <a:solidFill>
              <a:srgbClr val="8B451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27432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400" kern="0" dirty="0">
                <a:solidFill>
                  <a:srgbClr val="AAB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OFFRE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28016" y="54864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8B451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BRONZE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228600" y="12801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AAB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Partenaire Soutien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74320" y="1691640"/>
            <a:ext cx="2926080" cy="685800"/>
          </a:xfrm>
          <a:prstGeom prst="rect">
            <a:avLst/>
          </a:prstGeom>
          <a:solidFill>
            <a:srgbClr val="8B4513"/>
          </a:solidFill>
          <a:ln w="12700">
            <a:solidFill>
              <a:srgbClr val="8B451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74320" y="169164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600 €  / an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228600" y="242316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AAB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Tarif annuel HT · Renouvellement en août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20040" y="2743200"/>
            <a:ext cx="2788920" cy="1371600"/>
          </a:xfrm>
          <a:prstGeom prst="rect">
            <a:avLst/>
          </a:prstGeom>
          <a:solidFill>
            <a:srgbClr val="1A2D4A"/>
          </a:solidFill>
          <a:ln w="19050">
            <a:solidFill>
              <a:srgbClr val="8B4513"/>
            </a:solidFill>
            <a:prstDash val="dash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20040" y="2743200"/>
            <a:ext cx="2788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8B45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LOGO DU CLUB ]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794760" y="20116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B45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BRONZE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794760" y="475488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 que nous vous offrons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3794760" y="950976"/>
            <a:ext cx="5029200" cy="36576"/>
          </a:xfrm>
          <a:prstGeom prst="rect">
            <a:avLst/>
          </a:prstGeom>
          <a:solidFill>
            <a:srgbClr val="8B4513"/>
          </a:solidFill>
          <a:ln w="12700">
            <a:solidFill>
              <a:srgbClr val="8B451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794760" y="1161288"/>
            <a:ext cx="164592" cy="164592"/>
          </a:xfrm>
          <a:prstGeom prst="rect">
            <a:avLst/>
          </a:prstGeom>
          <a:solidFill>
            <a:srgbClr val="8B4513"/>
          </a:solidFill>
          <a:ln w="12700">
            <a:solidFill>
              <a:srgbClr val="8B451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794760" y="1143000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4041648" y="1097280"/>
            <a:ext cx="4773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 sur les affichages intérieurs du club (hall, vestiaires)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794760" y="1581912"/>
            <a:ext cx="164592" cy="164592"/>
          </a:xfrm>
          <a:prstGeom prst="rect">
            <a:avLst/>
          </a:prstGeom>
          <a:solidFill>
            <a:srgbClr val="8B4513"/>
          </a:solidFill>
          <a:ln w="12700">
            <a:solidFill>
              <a:srgbClr val="8B451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794760" y="1563624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4041648" y="1517904"/>
            <a:ext cx="4773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 sur le site Ten'Up du club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794760" y="2002536"/>
            <a:ext cx="164592" cy="164592"/>
          </a:xfrm>
          <a:prstGeom prst="rect">
            <a:avLst/>
          </a:prstGeom>
          <a:solidFill>
            <a:srgbClr val="8B4513"/>
          </a:solidFill>
          <a:ln w="12700">
            <a:solidFill>
              <a:srgbClr val="8B451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794760" y="1984248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4041648" y="1938528"/>
            <a:ext cx="4773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Mention "Partenaire" dans la newsletter saisonnière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794760" y="2423160"/>
            <a:ext cx="164592" cy="164592"/>
          </a:xfrm>
          <a:prstGeom prst="rect">
            <a:avLst/>
          </a:prstGeom>
          <a:solidFill>
            <a:srgbClr val="8B4513"/>
          </a:solidFill>
          <a:ln w="12700">
            <a:solidFill>
              <a:srgbClr val="8B451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794760" y="2404872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4041648" y="2359152"/>
            <a:ext cx="4773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invitation aux événements du club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794760" y="2843784"/>
            <a:ext cx="164592" cy="164592"/>
          </a:xfrm>
          <a:prstGeom prst="rect">
            <a:avLst/>
          </a:prstGeom>
          <a:solidFill>
            <a:srgbClr val="8B4513"/>
          </a:solidFill>
          <a:ln w="12700">
            <a:solidFill>
              <a:srgbClr val="8B451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794760" y="2825496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4041648" y="2779776"/>
            <a:ext cx="4773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de présentation sur les réseaux sociaux (début de saison)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0040" y="4754880"/>
            <a:ext cx="850392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AB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Dossier de Partenariat &amp; Sponsoring  ·  [NOM DU CLUB]  ·  Saison 2025–2026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C85A2A"/>
          </a:solidFill>
          <a:ln w="12700">
            <a:solidFill>
              <a:srgbClr val="C85A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914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85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COMPARATIF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34747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Récapitulatif des contreparties par niveau</a:t>
            </a:r>
            <a:endParaRPr lang="en-US" sz="1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78992"/>
          <a:ext cx="8412480" cy="3566160"/>
        </p:xfrm>
        <a:graphic>
          <a:graphicData uri="http://schemas.openxmlformats.org/drawingml/2006/table">
            <a:tbl>
              <a:tblPr/>
              <a:tblGrid>
                <a:gridCol w="3291840"/>
                <a:gridCol w="1645920"/>
                <a:gridCol w="1737360"/>
                <a:gridCol w="173736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Contrepartie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🥉  BRONZE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600 € / an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401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🥈  ARGENT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1 500 € / an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05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🥇  OR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3 000 € / an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580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Logo sur les équipements &amp; affichages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Intérieur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Bâches + affichages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Grand format – 1ère position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Présence site Ten'Up &amp; réseaux sociaux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66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 (2e position)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 (1ère position)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Publications dédiées sur les réseaux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post de rentrée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publications / saison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Posts réguliers + vidéo présentation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Invitations événements &amp; tournois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invitation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invitations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invitations VIP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Accès créneaux courts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AAAA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créneau / semaine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créneaux / semaine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Mention dans les communications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Newsletter saison.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Comms officielles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"Partenaire Principal" systématique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Présence cérémonie de remise de prix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AAAA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Discours + remise de prix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Entretien annuel avec le bureau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AAAA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AAAA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66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8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4754880"/>
            <a:ext cx="850392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AB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Dossier de Partenariat &amp; Sponsoring  ·  [NOM DU CLUB]  ·  Saison 2025–2026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6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C85A2A"/>
          </a:solidFill>
          <a:ln w="12700">
            <a:solidFill>
              <a:srgbClr val="C85A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0"/>
            <a:ext cx="5029200" cy="505206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365760"/>
            <a:ext cx="2560320" cy="1143000"/>
          </a:xfrm>
          <a:prstGeom prst="rect">
            <a:avLst/>
          </a:prstGeom>
          <a:solidFill>
            <a:srgbClr val="1A2D4A"/>
          </a:solidFill>
          <a:ln w="19050">
            <a:solidFill>
              <a:srgbClr val="C85A2A"/>
            </a:solidFill>
            <a:prstDash val="dash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365760"/>
            <a:ext cx="25603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C85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LOGO DU CLUB ]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1691640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85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PASSONS À L'ACTION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1993392"/>
            <a:ext cx="4389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Prochaines étapes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365760" y="2670048"/>
            <a:ext cx="320040" cy="320040"/>
          </a:xfrm>
          <a:prstGeom prst="rect">
            <a:avLst/>
          </a:prstGeom>
          <a:solidFill>
            <a:srgbClr val="C85A2A"/>
          </a:solidFill>
          <a:ln w="12700">
            <a:solidFill>
              <a:srgbClr val="C85A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267004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77240" y="2670048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Vous contactez notre responsable partenariats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3145536"/>
            <a:ext cx="320040" cy="320040"/>
          </a:xfrm>
          <a:prstGeom prst="rect">
            <a:avLst/>
          </a:prstGeom>
          <a:solidFill>
            <a:srgbClr val="C85A2A"/>
          </a:solidFill>
          <a:ln w="12700">
            <a:solidFill>
              <a:srgbClr val="C85A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314553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77240" y="3145536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Nous organisons un échange (30 min) pour affiner votre offre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3621024"/>
            <a:ext cx="320040" cy="320040"/>
          </a:xfrm>
          <a:prstGeom prst="rect">
            <a:avLst/>
          </a:prstGeom>
          <a:solidFill>
            <a:srgbClr val="C85A2A"/>
          </a:solidFill>
          <a:ln w="12700">
            <a:solidFill>
              <a:srgbClr val="C85A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62102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77240" y="3621024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Vous recevez une convention de partenariat personnalisée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4096512"/>
            <a:ext cx="320040" cy="320040"/>
          </a:xfrm>
          <a:prstGeom prst="rect">
            <a:avLst/>
          </a:prstGeom>
          <a:solidFill>
            <a:srgbClr val="C85A2A"/>
          </a:solidFill>
          <a:ln w="12700">
            <a:solidFill>
              <a:srgbClr val="C85A2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409651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77240" y="4096512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Nous annonçons officiellement votre partenariat à nos adhérents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349240" y="4114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85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NOUS CONTACTER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349240" y="713232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Notre équipe vous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répond sous 48h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5349240" y="1417320"/>
            <a:ext cx="3474720" cy="36576"/>
          </a:xfrm>
          <a:prstGeom prst="rect">
            <a:avLst/>
          </a:prstGeom>
          <a:solidFill>
            <a:srgbClr val="C85A2A"/>
          </a:solidFill>
          <a:ln w="12700">
            <a:solidFill>
              <a:srgbClr val="C85A2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349240" y="1572768"/>
            <a:ext cx="3474720" cy="512064"/>
          </a:xfrm>
          <a:prstGeom prst="rect">
            <a:avLst/>
          </a:prstGeom>
          <a:solidFill>
            <a:srgbClr val="0F2240"/>
          </a:solidFill>
          <a:ln w="12700">
            <a:solidFill>
              <a:srgbClr val="1E3A6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40680" y="1618488"/>
            <a:ext cx="365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👤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870448" y="1609344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Responsable partenariats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870448" y="1810512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 PRÉNOM]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349240" y="2157984"/>
            <a:ext cx="3474720" cy="512064"/>
          </a:xfrm>
          <a:prstGeom prst="rect">
            <a:avLst/>
          </a:prstGeom>
          <a:solidFill>
            <a:srgbClr val="0F2240"/>
          </a:solidFill>
          <a:ln w="12700">
            <a:solidFill>
              <a:srgbClr val="1E3A6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40680" y="2203704"/>
            <a:ext cx="365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📞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870448" y="2194560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Téléphone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5870448" y="2395728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[XX XX XX XX XX]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349240" y="2743200"/>
            <a:ext cx="3474720" cy="512064"/>
          </a:xfrm>
          <a:prstGeom prst="rect">
            <a:avLst/>
          </a:prstGeom>
          <a:solidFill>
            <a:srgbClr val="0F2240"/>
          </a:solidFill>
          <a:ln w="12700">
            <a:solidFill>
              <a:srgbClr val="1E3A6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40680" y="2788920"/>
            <a:ext cx="365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✉️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870448" y="2779776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5870448" y="2980944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[adresse@email.fr]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349240" y="3328416"/>
            <a:ext cx="3474720" cy="512064"/>
          </a:xfrm>
          <a:prstGeom prst="rect">
            <a:avLst/>
          </a:prstGeom>
          <a:solidFill>
            <a:srgbClr val="0F2240"/>
          </a:solidFill>
          <a:ln w="12700">
            <a:solidFill>
              <a:srgbClr val="1E3A6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440680" y="3374136"/>
            <a:ext cx="365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🌐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5870448" y="3364992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web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5870448" y="3566160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[www.nomduclub.fr]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5349240" y="3913632"/>
            <a:ext cx="3474720" cy="512064"/>
          </a:xfrm>
          <a:prstGeom prst="rect">
            <a:avLst/>
          </a:prstGeom>
          <a:solidFill>
            <a:srgbClr val="0F2240"/>
          </a:solidFill>
          <a:ln w="12700">
            <a:solidFill>
              <a:srgbClr val="1E3A6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440680" y="3959352"/>
            <a:ext cx="365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📍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5870448" y="3950208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Adresse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5870448" y="4151376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[Adresse complète du club]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C85A2A"/>
          </a:solidFill>
          <a:ln w="12700">
            <a:solidFill>
              <a:srgbClr val="C85A2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20040" y="4754880"/>
            <a:ext cx="850392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Merci de votre confiance  ·  Ensemble, faisons grandir le tennis à [VILLE] !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Dossier de Sponsoring – Club de Tennis</dc:title>
  <dc:subject>PptxGenJS Presentation</dc:subject>
  <dc:creator>Club de Tennis FFT</dc:creator>
  <cp:lastModifiedBy>Club de Tennis FFT</cp:lastModifiedBy>
  <cp:revision>1</cp:revision>
  <dcterms:created xsi:type="dcterms:W3CDTF">2026-03-19T15:10:56Z</dcterms:created>
  <dcterms:modified xsi:type="dcterms:W3CDTF">2026-03-19T15:10:56Z</dcterms:modified>
</cp:coreProperties>
</file>